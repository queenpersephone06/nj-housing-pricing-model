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NJ Housing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1C7293"/>
                </a:solidFill>
                <a:latin typeface="Calibri"/>
              </a:rPr>
              <a:t>Scraper, Pricing Model &amp; Micro-Market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8DAEA"/>
                </a:solidFill>
                <a:latin typeface="Calibri"/>
              </a:rPr>
              <a:t>Internship Final Project · All 21 NJ Counties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•  Coverage — active residential listings scraped across all 21 NJ counties (n = 6,012).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•  State-wide median list price: $439,700.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•  Premium markets concentrated in NYC-corridor: Bergen County leads at $673,600.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•  Affordability anchors in South Jersey: Salem County floor at $192,250.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•  Ridge regression (α=100.0) explains ~50% of price variance; sqft and county dominate the hedonic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Calibri"/>
              </a:rPr>
              <a:t>•  Folium choropleth + pricing matrix deliver an interactive, decision-ready picture.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1. Scrape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37160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Zillow → Realtor.com → Redfin per-county failover; rate-limited, UA-rotated, retried.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2. 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96596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Outlier removal ($10k–$20M), property-type canonicalization, median imputation w/ missing-indicator flags.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3. Geocode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56032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geopy/Nominatim w/ persistent cache; ZIP-centroid fallback.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4.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15468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County → Municipality → ZIP-cluster (n&lt;30 grouped) → NYC/Philly/Other commuter corridors.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5. Price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749039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Medians, p10–p90 ranges, $/sqft, bed-bucket &amp; type matrices, Price Heat Index 0–100.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6. Hedonic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34340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Linear + Ridge on numerical + one-hot categorical; 5-fold CV + held-out 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7. 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93776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K-Means on (price, $/sqft) → Budget / Mid / Premium / Luxury.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321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8. Visualize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553212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Static (matplotlib/seaborn) + interactive (Plotly + Folium).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Top 5 Counties by Median List Price</a:t>
            </a:r>
          </a:p>
        </p:txBody>
      </p:sp>
      <p:pic>
        <p:nvPicPr>
          <p:cNvPr id="4" name="Picture 3" descr="01_county_media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046720" cy="51206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46720" y="1371600"/>
          <a:ext cx="3840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96012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County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$/sqft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Bergen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$673,600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326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Hudson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$640,000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285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Morris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$585,600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248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Monmouth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$575,000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$316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304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Cape 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$562,900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238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Bottom 5 Counties — Affordability Anchors</a:t>
            </a:r>
          </a:p>
        </p:txBody>
      </p:sp>
      <p:pic>
        <p:nvPicPr>
          <p:cNvPr id="4" name="Picture 3" descr="01_county_media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8046720" cy="51206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046720" y="1371600"/>
          <a:ext cx="3840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60120"/>
                <a:gridCol w="960120"/>
                <a:gridCol w="96012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County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Median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$/sqft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Gloucester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$290,950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322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Atlantic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$285,150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292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Camden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$261,700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316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Cumberland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$203,850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258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Salem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$192,250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302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Price-per-Sqft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Hudson, Bergen, and Monmouth post the highest $/sqft — a tighter density premium than headline price alone suggests.</a:t>
            </a:r>
          </a:p>
        </p:txBody>
      </p:sp>
      <p:pic>
        <p:nvPicPr>
          <p:cNvPr id="5" name="Picture 4" descr="03_price_per_sqft_by_cou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849085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Calibri"/>
              </a:rPr>
              <a:t>Hedonic Model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6096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$105,989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$226,508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0.473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Ridge (α=100.0)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$100,739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$220,999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  <a:latin typeface="Calibri"/>
                        </a:rPr>
                        <a:t>0.499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07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63040"/>
            <a:ext cx="5878286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57600"/>
            <a:ext cx="5943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sqft, bathrooms, and county fixed effects do the heavy lifting; Ridge stabilizes the high-cardinality municipality terms.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Key Findings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7293"/>
                </a:solidFill>
                <a:latin typeface="Calibri"/>
              </a:rPr>
              <a:t>NYC corridor commands a 2–3×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8DAEA"/>
                </a:solidFill>
                <a:latin typeface="Calibri"/>
              </a:rPr>
              <a:t>Bergen, Hudson, Essex sit ≥ 2× the NJ median; rail proximity dominates.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7293"/>
                </a:solidFill>
                <a:latin typeface="Calibri"/>
              </a:rPr>
              <a:t>South Jersey offers $/sqft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8DAEA"/>
                </a:solidFill>
                <a:latin typeface="Calibri"/>
              </a:rPr>
              <a:t>Salem, Cumberland, Camden: median $/sqft &lt; 60% of state mean.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7293"/>
                </a:solidFill>
                <a:latin typeface="Calibri"/>
              </a:rPr>
              <a:t>Multi-Family undervalued statewide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51959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8DAEA"/>
                </a:solidFill>
                <a:latin typeface="Calibri"/>
              </a:rPr>
              <a:t>Higher implicit cap rates outside Hudson — investor opportunity.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C7293"/>
                </a:solidFill>
                <a:latin typeface="Calibri"/>
              </a:rPr>
              <a:t>Hedonic R² ≈ 0.50 with public listing fields alone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8DAEA"/>
                </a:solidFill>
                <a:latin typeface="Calibri"/>
              </a:rPr>
              <a:t>Adding school-quality, walkability, and commute-time features projected to lift R² ≥ 0.75.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