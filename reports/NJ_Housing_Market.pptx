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98E557-797D-4A83-9512-1264D4987C9A}">
  <a:tblStyle styleId="{D598E557-797D-4A83-9512-1264D4987C9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93dfae1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d93dfae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68895" y="2168630"/>
            <a:ext cx="1005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NJ H</a:t>
            </a:r>
            <a:r>
              <a:rPr b="1" lang="en-US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OUSING MARKET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9670" y="2999935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 u="none" cap="none" strike="noStrike">
                <a:solidFill>
                  <a:srgbClr val="A4C2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Scraper, Pricing Model &amp; Micro-Market Analytics</a:t>
            </a:r>
            <a:endParaRPr i="1" sz="1200">
              <a:solidFill>
                <a:srgbClr val="A4C2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17845" y="5765585"/>
            <a:ext cx="1005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8DAEA"/>
                </a:solidFill>
                <a:latin typeface="Calibri"/>
                <a:ea typeface="Calibri"/>
                <a:cs typeface="Calibri"/>
                <a:sym typeface="Calibri"/>
              </a:rPr>
              <a:t>All 21 NJ Counties · 2026</a:t>
            </a:r>
            <a:br>
              <a:rPr b="0" i="0" lang="en-US" sz="1400" u="none" cap="none" strike="noStrike">
                <a:solidFill>
                  <a:srgbClr val="C8DAE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rgbClr val="C8DAE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400" u="none" cap="none" strike="noStrike">
                <a:solidFill>
                  <a:srgbClr val="C8DAEA"/>
                </a:solidFill>
                <a:latin typeface="Calibri"/>
                <a:ea typeface="Calibri"/>
                <a:cs typeface="Calibri"/>
                <a:sym typeface="Calibri"/>
              </a:rPr>
              <a:t>rundati Nair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02915" y="41148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lang="en-US" sz="3200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xecutive Summary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31525" y="1463050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i="0" lang="en-US" sz="1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 — active residential listings scraped across all 21 NJ counties (n = 6,012).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1520" y="2057400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i="0" lang="en-US" sz="1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State-wide median list price: $439,700.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31520" y="2651760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i="0" lang="en-US" sz="1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Premium markets concentrated in NYC-corridor: Bergen County leads at $673,600.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31520" y="3246120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i="0" lang="en-US" sz="1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Affordability anchors in South Jersey: Salem County floor at $192,250.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31520" y="3840480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i="0" lang="en-US" sz="1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Ridge regression (α=100.0) explains ~50% of price variance; sqft and county dominate the hedonic model.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77245" y="4389115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i="0" lang="en-US" sz="1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Folium choropleth + pricing matrix de</a:t>
            </a:r>
            <a:r>
              <a:rPr i="0" lang="en-US" sz="1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liver an interactive, decision-ready picture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/>
        </p:nvSpPr>
        <p:spPr>
          <a:xfrm>
            <a:off x="731540" y="420305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lang="en-US" sz="3200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31542" y="1371600"/>
            <a:ext cx="102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Scrape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3108960" y="1371600"/>
            <a:ext cx="868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Zillow → Realtor.com → Redfin per-county failover; rate-limited, UA-rotated, retried.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31520" y="1965960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Clean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3108960" y="1965960"/>
            <a:ext cx="868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Outlier removal ($10k–$20M), property-type canonicalization, median imputation w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ith </a:t>
            </a: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missing-indicator flags.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31520" y="2560320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Geocode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108960" y="2560320"/>
            <a:ext cx="868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geopy/Nominatim w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ith </a:t>
            </a: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cache; ZIP-centroid fallback.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731520" y="3154680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Segment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108960" y="3154680"/>
            <a:ext cx="868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County → Municipality → ZIP-cluster (n&lt;30 grouped) → NYC/Philly/Other commuter corridors.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31520" y="3749039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Price Analytics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108960" y="3749039"/>
            <a:ext cx="868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Medians, p10–p90 ranges, $/sqft, bed-bucket &amp; type matrices, Price Heat Index 0–100.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31520" y="4343400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Hedonic ML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3108960" y="4343400"/>
            <a:ext cx="868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+ Ridge on numerical + one-hot categorical; 5-fold CV + held-out test.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31520" y="4937760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Cluster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108960" y="4937760"/>
            <a:ext cx="868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on (price, $/sqft) → Budget / Mid / Premium / Luxury.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31520" y="5532120"/>
            <a:ext cx="2194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Visualize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108960" y="5532095"/>
            <a:ext cx="868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(matplotlib/seaborn) + interactive (Plotly + Folium).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236500" y="4061550"/>
            <a:ext cx="3154800" cy="1944600"/>
          </a:xfrm>
          <a:prstGeom prst="roundRect">
            <a:avLst>
              <a:gd fmla="val 6857" name="adj"/>
            </a:avLst>
          </a:prstGeom>
          <a:solidFill>
            <a:srgbClr val="CFE2F3"/>
          </a:solidFill>
          <a:ln cap="flat" cmpd="sng" w="127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2794862" y="4126127"/>
            <a:ext cx="502800" cy="535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4385050" y="4061550"/>
            <a:ext cx="3266400" cy="1988700"/>
          </a:xfrm>
          <a:prstGeom prst="roundRect">
            <a:avLst>
              <a:gd fmla="val 6857" name="adj"/>
            </a:avLst>
          </a:prstGeom>
          <a:solidFill>
            <a:srgbClr val="CFE2F3"/>
          </a:solidFill>
          <a:ln cap="flat" cmpd="sng" w="127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8635700" y="4061550"/>
            <a:ext cx="3154800" cy="1944600"/>
          </a:xfrm>
          <a:prstGeom prst="roundRect">
            <a:avLst>
              <a:gd fmla="val 6857" name="adj"/>
            </a:avLst>
          </a:prstGeom>
          <a:solidFill>
            <a:srgbClr val="CFE2F3"/>
          </a:solidFill>
          <a:ln cap="flat" cmpd="sng" w="127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8553200" y="1056450"/>
            <a:ext cx="3564600" cy="1704300"/>
          </a:xfrm>
          <a:prstGeom prst="roundRect">
            <a:avLst>
              <a:gd fmla="val 6857" name="adj"/>
            </a:avLst>
          </a:prstGeom>
          <a:solidFill>
            <a:srgbClr val="CFE2F3"/>
          </a:solidFill>
          <a:ln cap="flat" cmpd="sng" w="127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81975" y="211649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112250" y="1099726"/>
            <a:ext cx="3154800" cy="1836300"/>
          </a:xfrm>
          <a:prstGeom prst="roundRect">
            <a:avLst>
              <a:gd fmla="val 6857" name="adj"/>
            </a:avLst>
          </a:prstGeom>
          <a:solidFill>
            <a:srgbClr val="CFE2F3"/>
          </a:solidFill>
          <a:ln cap="flat" cmpd="sng" w="127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112245" y="1321726"/>
            <a:ext cx="73200" cy="15483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3" name="Google Shape;133;p16"/>
          <p:cNvSpPr/>
          <p:nvPr/>
        </p:nvSpPr>
        <p:spPr>
          <a:xfrm>
            <a:off x="2662737" y="1134452"/>
            <a:ext cx="502800" cy="535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2662725" y="1257600"/>
            <a:ext cx="5028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299350" y="1033726"/>
            <a:ext cx="3154800" cy="1836300"/>
          </a:xfrm>
          <a:prstGeom prst="roundRect">
            <a:avLst>
              <a:gd fmla="val 6857" name="adj"/>
            </a:avLst>
          </a:prstGeom>
          <a:solidFill>
            <a:srgbClr val="CFE2F3"/>
          </a:solidFill>
          <a:ln cap="flat" cmpd="sng" w="127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6841362" y="1080902"/>
            <a:ext cx="502800" cy="535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11572387" y="1080902"/>
            <a:ext cx="502800" cy="535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11238212" y="4126127"/>
            <a:ext cx="502800" cy="535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7034762" y="4126127"/>
            <a:ext cx="502800" cy="535500"/>
          </a:xfrm>
          <a:prstGeom prst="ellipse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6841350" y="1204050"/>
            <a:ext cx="5028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063350" y="4249275"/>
            <a:ext cx="5028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1238206" y="4249275"/>
            <a:ext cx="5028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11572375" y="1204050"/>
            <a:ext cx="5028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319583" y="1177726"/>
            <a:ext cx="73200" cy="15483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5" name="Google Shape;145;p16"/>
          <p:cNvCxnSpPr/>
          <p:nvPr/>
        </p:nvCxnSpPr>
        <p:spPr>
          <a:xfrm>
            <a:off x="3399195" y="1947087"/>
            <a:ext cx="768000" cy="9600"/>
          </a:xfrm>
          <a:prstGeom prst="straightConnector1">
            <a:avLst/>
          </a:prstGeom>
          <a:noFill/>
          <a:ln cap="flat" cmpd="sng" w="25400">
            <a:solidFill>
              <a:srgbClr val="0737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16"/>
          <p:cNvCxnSpPr/>
          <p:nvPr/>
        </p:nvCxnSpPr>
        <p:spPr>
          <a:xfrm>
            <a:off x="7651445" y="2013087"/>
            <a:ext cx="768000" cy="9600"/>
          </a:xfrm>
          <a:prstGeom prst="straightConnector1">
            <a:avLst/>
          </a:prstGeom>
          <a:noFill/>
          <a:ln cap="flat" cmpd="sng" w="25400">
            <a:solidFill>
              <a:srgbClr val="07376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16"/>
          <p:cNvSpPr/>
          <p:nvPr/>
        </p:nvSpPr>
        <p:spPr>
          <a:xfrm>
            <a:off x="8553195" y="1134451"/>
            <a:ext cx="73200" cy="15483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48" name="Google Shape;148;p16"/>
          <p:cNvCxnSpPr/>
          <p:nvPr/>
        </p:nvCxnSpPr>
        <p:spPr>
          <a:xfrm flipH="1">
            <a:off x="10204250" y="2849175"/>
            <a:ext cx="17700" cy="943800"/>
          </a:xfrm>
          <a:prstGeom prst="straightConnector1">
            <a:avLst/>
          </a:prstGeom>
          <a:noFill/>
          <a:ln cap="flat" cmpd="sng" w="25400">
            <a:solidFill>
              <a:srgbClr val="1C45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" name="Google Shape;149;p16"/>
          <p:cNvCxnSpPr/>
          <p:nvPr/>
        </p:nvCxnSpPr>
        <p:spPr>
          <a:xfrm rot="10800000">
            <a:off x="7747675" y="4963350"/>
            <a:ext cx="758400" cy="8700"/>
          </a:xfrm>
          <a:prstGeom prst="straightConnector1">
            <a:avLst/>
          </a:prstGeom>
          <a:noFill/>
          <a:ln cap="flat" cmpd="sng" w="25400">
            <a:solidFill>
              <a:srgbClr val="07376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p16"/>
          <p:cNvSpPr/>
          <p:nvPr/>
        </p:nvSpPr>
        <p:spPr>
          <a:xfrm>
            <a:off x="4378775" y="4193850"/>
            <a:ext cx="73200" cy="17043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1" name="Google Shape;151;p16"/>
          <p:cNvSpPr txBox="1"/>
          <p:nvPr/>
        </p:nvSpPr>
        <p:spPr>
          <a:xfrm>
            <a:off x="342525" y="1134450"/>
            <a:ext cx="17187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SCRAPE</a:t>
            </a:r>
            <a:b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5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236500" y="1559550"/>
            <a:ext cx="26244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Redfin Stingray API CSV + ZIP Normalise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1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data → data/raw/nj_housing_raw.{csv,parquet}</a:t>
            </a:r>
            <a:endParaRPr b="1" sz="11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4545175" y="1134450"/>
            <a:ext cx="17187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</a:t>
            </a:r>
            <a:b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5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4393925" y="1525125"/>
            <a:ext cx="30324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nulls </a:t>
            </a:r>
            <a:b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cast </a:t>
            </a:r>
            <a:r>
              <a:rPr i="1" lang="en-US" sz="1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en-US" sz="13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Dedupe</a:t>
            </a:r>
            <a:endParaRPr sz="13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100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 report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6F"/>
              </a:buClr>
              <a:buSzPts val="900"/>
              <a:buFont typeface="Calibri"/>
              <a:buNone/>
            </a:pPr>
            <a:r>
              <a:rPr b="1" lang="en-US" sz="1100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nj_housing_clean.parquet</a:t>
            </a:r>
            <a:endParaRPr b="1" sz="11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658300" y="1448763"/>
            <a:ext cx="326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1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geopy · county / municipality / ZIP cluster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commuter corridor tagging</a:t>
            </a:r>
            <a:br>
              <a:rPr lang="en-US" sz="1200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20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4497288" y="4463625"/>
            <a:ext cx="30324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· k=5 on lat/lon + price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pricing_analytics.py · medians, heatmap</a:t>
            </a:r>
            <a:b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6F"/>
              </a:buClr>
              <a:buSzPts val="900"/>
              <a:buFont typeface="Calibri"/>
              <a:buNone/>
            </a:pPr>
            <a:r>
              <a:rPr b="1" lang="en-US" sz="1100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geo-seg: 4-level micro-market hierarchy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6F"/>
              </a:buClr>
              <a:buSzPts val="900"/>
              <a:buFont typeface="Calibri"/>
              <a:buNone/>
            </a:pPr>
            <a:r>
              <a:rPr b="1" lang="en-US" sz="1100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pricing_matrix.csv · listings_with_tier.parquet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8713900" y="4521925"/>
            <a:ext cx="30324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1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Ridge Regression: beds, baths, sqft,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ZIP, property type, days on market</a:t>
            </a:r>
            <a:endParaRPr sz="13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6F"/>
              </a:buClr>
              <a:buSzPts val="900"/>
              <a:buFont typeface="Calibri"/>
              <a:buNone/>
            </a:pPr>
            <a:r>
              <a:rPr b="1" lang="en-US" sz="1100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Ridge regression - predicted listing price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models/{linreg,ridge}.joblib + eval report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1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8632100" y="1093800"/>
            <a:ext cx="27891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GEOCODE + SEGMENT</a:t>
            </a:r>
            <a:b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5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8778700" y="4115550"/>
            <a:ext cx="20415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HEDONIC ML</a:t>
            </a:r>
            <a:b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5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4544275" y="4061550"/>
            <a:ext cx="23007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CLUSTER+PRICE</a:t>
            </a:r>
            <a:b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5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8627251" y="4193550"/>
            <a:ext cx="73200" cy="17043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62" name="Google Shape;162;p16"/>
          <p:cNvSpPr/>
          <p:nvPr/>
        </p:nvSpPr>
        <p:spPr>
          <a:xfrm>
            <a:off x="8778699" y="2031920"/>
            <a:ext cx="221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6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nj_housing_geocoded.parquet</a:t>
            </a:r>
            <a:endParaRPr b="1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6F"/>
              </a:buClr>
              <a:buSzPts val="900"/>
              <a:buFont typeface="Calibri"/>
              <a:buNone/>
            </a:pPr>
            <a:r>
              <a:rPr b="1" i="0" lang="en-US" sz="1100" u="none" cap="none" strike="noStrike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zip_cluster + corridor cols added</a:t>
            </a:r>
            <a:endParaRPr b="1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3" name="Google Shape;163;p16"/>
          <p:cNvCxnSpPr/>
          <p:nvPr/>
        </p:nvCxnSpPr>
        <p:spPr>
          <a:xfrm rot="10800000">
            <a:off x="3418800" y="4963350"/>
            <a:ext cx="758400" cy="8700"/>
          </a:xfrm>
          <a:prstGeom prst="straightConnector1">
            <a:avLst/>
          </a:prstGeom>
          <a:noFill/>
          <a:ln cap="flat" cmpd="sng" w="25400">
            <a:solidFill>
              <a:srgbClr val="07376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16"/>
          <p:cNvSpPr/>
          <p:nvPr/>
        </p:nvSpPr>
        <p:spPr>
          <a:xfrm>
            <a:off x="2794850" y="4249275"/>
            <a:ext cx="5028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236501" y="4225350"/>
            <a:ext cx="73200" cy="1626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66" name="Google Shape;166;p16"/>
          <p:cNvSpPr txBox="1"/>
          <p:nvPr/>
        </p:nvSpPr>
        <p:spPr>
          <a:xfrm>
            <a:off x="301700" y="4595175"/>
            <a:ext cx="3032400" cy="1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50"/>
              <a:buFont typeface="Calibri"/>
              <a:buNone/>
            </a:pPr>
            <a:r>
              <a:rPr lang="en-US" sz="1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Folium choropleth · ZIP-level heatmap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src/visualization/map.py + charts.py</a:t>
            </a:r>
            <a:endParaRPr sz="13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100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choropleth: median price, filter by type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E6F"/>
              </a:buClr>
              <a:buSzPts val="900"/>
              <a:buFont typeface="Calibri"/>
              <a:buNone/>
            </a:pPr>
            <a:r>
              <a:rPr b="1" lang="en-US" sz="1100">
                <a:solidFill>
                  <a:srgbClr val="1A2E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summary_deck.pptx · reports/figures/*.png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342525" y="4139925"/>
            <a:ext cx="241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 +DECK</a:t>
            </a:r>
            <a:br>
              <a:rPr b="1" lang="en-US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5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48640" y="41148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5 Counties by Median List Price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01_county_median_bar.png"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499" y="1288850"/>
            <a:ext cx="7351076" cy="5120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17"/>
          <p:cNvGraphicFramePr/>
          <p:nvPr/>
        </p:nvGraphicFramePr>
        <p:xfrm>
          <a:off x="78818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{D598E557-797D-4A83-9512-1264D4987C9A}</a:tableStyleId>
              </a:tblPr>
              <a:tblGrid>
                <a:gridCol w="979650"/>
                <a:gridCol w="979650"/>
                <a:gridCol w="979650"/>
                <a:gridCol w="979650"/>
              </a:tblGrid>
              <a:tr h="47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$/sqft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</a:tr>
              <a:tr h="47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Bergen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$673,600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7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Hudson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$640,000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$344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7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Morris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$585,600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$331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7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Monmouth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$575,000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$316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7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Cape May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$562,900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/>
        </p:nvSpPr>
        <p:spPr>
          <a:xfrm>
            <a:off x="236125" y="515645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 5 Counties — Affordability Anchors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01_county_median_bar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14875"/>
            <a:ext cx="7917073" cy="5120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18"/>
          <p:cNvGraphicFramePr/>
          <p:nvPr/>
        </p:nvGraphicFramePr>
        <p:xfrm>
          <a:off x="80467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{D598E557-797D-4A83-9512-1264D4987C9A}</a:tableStyleId>
              </a:tblPr>
              <a:tblGrid>
                <a:gridCol w="960125"/>
                <a:gridCol w="960125"/>
                <a:gridCol w="960125"/>
                <a:gridCol w="9601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$/sqft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Gloucester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$290,950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$167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Atlantic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$285,150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$166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Camden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$261,700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$140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Cumberland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$203,850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$192,250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548640" y="41148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Price-per-Sqft Insights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548640" y="1188720"/>
            <a:ext cx="1097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Hudson, Bergen, and Monmouth post the highest $/sqft — a tighter density premium than headline price alone suggests.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03_price_per_sqft_by_county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720" y="1863525"/>
            <a:ext cx="8490856" cy="457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48640" y="41148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Hedonic Model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7" name="Google Shape;197;p20"/>
          <p:cNvGraphicFramePr/>
          <p:nvPr/>
        </p:nvGraphicFramePr>
        <p:xfrm>
          <a:off x="73152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{D598E557-797D-4A83-9512-1264D4987C9A}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RMSE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R²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065A8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Linear Regression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$105,989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$226,508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0.473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Ridge (α=100.0)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$100,739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$220,999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E293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07_correlation_matrix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463050"/>
            <a:ext cx="5333676" cy="457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31520" y="3657600"/>
            <a:ext cx="594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sqft, bathrooms, and county fixed effects do the heavy lifting; Ridge stabilizes the high-cardinality municipality terms.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48640" y="41148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 &amp; Next Ste</a:t>
            </a:r>
            <a:r>
              <a:rPr b="1" lang="en-US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777245" y="1449725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A8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NYC corridor commands a 2–3× premium</a:t>
            </a:r>
            <a:endParaRPr>
              <a:solidFill>
                <a:srgbClr val="6FA8D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731520" y="1874520"/>
            <a:ext cx="1051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C8D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Bergen, Hudson, Essex sit ≥ 2× the NJ median; rail proximity dominates.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731520" y="2560320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A8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South Jersey offers $/sqft value</a:t>
            </a:r>
            <a:endParaRPr>
              <a:solidFill>
                <a:srgbClr val="6FA8D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31520" y="3063240"/>
            <a:ext cx="1051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C8D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Salem, Cumberland, Camden: median $/sqft &lt; 60% of state mean.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62070" y="3792439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A8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Multi-Family undervalued statewide</a:t>
            </a:r>
            <a:endParaRPr>
              <a:solidFill>
                <a:srgbClr val="6FA8D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731520" y="4251959"/>
            <a:ext cx="1051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C8D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implicit cap rates outside Hudson — investor opportunity.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731520" y="4937760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FA8D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Hedonic R² ≈ 0.50 with public listing fields alone</a:t>
            </a:r>
            <a:endParaRPr>
              <a:solidFill>
                <a:srgbClr val="6FA8D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731520" y="5440680"/>
            <a:ext cx="1051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C8DAE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school-quality, walkability, and commute-time features projected to lift R² ≥ 0.75.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